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Collision Severity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34-4407-B649-3CA2278922DA}"/>
              </c:ext>
            </c:extLst>
          </c:dPt>
          <c:dPt>
            <c:idx val="1"/>
            <c:bubble3D val="0"/>
            <c:spPr>
              <a:solidFill>
                <a:srgbClr val="2EAA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34-4407-B649-3CA2278922DA}"/>
              </c:ext>
            </c:extLst>
          </c:dPt>
          <c:dPt>
            <c:idx val="2"/>
            <c:bubble3D val="0"/>
            <c:spPr>
              <a:solidFill>
                <a:srgbClr val="F4A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34-4407-B649-3CA2278922DA}"/>
              </c:ext>
            </c:extLst>
          </c:dPt>
          <c:dPt>
            <c:idx val="3"/>
            <c:bubble3D val="0"/>
            <c:spPr>
              <a:solidFill>
                <a:srgbClr val="E53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34-4407-B649-3CA2278922DA}"/>
              </c:ext>
            </c:extLst>
          </c:dPt>
          <c:cat>
            <c:strRef>
              <c:f>Sheet1!$A$2:$A$4</c:f>
              <c:strCache>
                <c:ptCount val="3"/>
                <c:pt idx="0">
                  <c:v>Property Damage Only (82.4%)</c:v>
                </c:pt>
                <c:pt idx="1">
                  <c:v>Non-Fatal Injury (17.4%)</c:v>
                </c:pt>
                <c:pt idx="2">
                  <c:v>Fatal (0.2%)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8280</c:v>
                </c:pt>
                <c:pt idx="1">
                  <c:v>1749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34-4407-B649-3CA2278922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Collisions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Collisions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1605</c:v>
                </c:pt>
                <c:pt idx="1">
                  <c:v>1558</c:v>
                </c:pt>
                <c:pt idx="2">
                  <c:v>740</c:v>
                </c:pt>
                <c:pt idx="3">
                  <c:v>285</c:v>
                </c:pt>
                <c:pt idx="4">
                  <c:v>448</c:v>
                </c:pt>
                <c:pt idx="5">
                  <c:v>611</c:v>
                </c:pt>
                <c:pt idx="6">
                  <c:v>745</c:v>
                </c:pt>
                <c:pt idx="7">
                  <c:v>766</c:v>
                </c:pt>
                <c:pt idx="8">
                  <c:v>728</c:v>
                </c:pt>
                <c:pt idx="9">
                  <c:v>762</c:v>
                </c:pt>
                <c:pt idx="10">
                  <c:v>969</c:v>
                </c:pt>
                <c:pt idx="11">
                  <c:v>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1-4D36-A55B-14BF7C822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Collisions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Collisions</c:v>
                </c:pt>
              </c:strCache>
            </c:strRef>
          </c:tx>
          <c:spPr>
            <a:ln w="31750" cap="flat">
              <a:solidFill>
                <a:srgbClr val="F4A7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700"/>
              </a:solidFill>
              <a:ln w="9525" cap="flat">
                <a:solidFill>
                  <a:srgbClr val="F4A700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00:00</c:v>
                </c:pt>
                <c:pt idx="1">
                  <c:v>01:00</c:v>
                </c:pt>
                <c:pt idx="2">
                  <c:v>02:00</c:v>
                </c:pt>
                <c:pt idx="3">
                  <c:v>03:00</c:v>
                </c:pt>
                <c:pt idx="4">
                  <c:v>04:00</c:v>
                </c:pt>
                <c:pt idx="5">
                  <c:v>05:00</c:v>
                </c:pt>
                <c:pt idx="6">
                  <c:v>06:00</c:v>
                </c:pt>
                <c:pt idx="7">
                  <c:v>07:00</c:v>
                </c:pt>
                <c:pt idx="8">
                  <c:v>08:00</c:v>
                </c:pt>
                <c:pt idx="9">
                  <c:v>09:00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108</c:v>
                </c:pt>
                <c:pt idx="1">
                  <c:v>86</c:v>
                </c:pt>
                <c:pt idx="2">
                  <c:v>78</c:v>
                </c:pt>
                <c:pt idx="3">
                  <c:v>47</c:v>
                </c:pt>
                <c:pt idx="4">
                  <c:v>52</c:v>
                </c:pt>
                <c:pt idx="5">
                  <c:v>100</c:v>
                </c:pt>
                <c:pt idx="6">
                  <c:v>321</c:v>
                </c:pt>
                <c:pt idx="7">
                  <c:v>437</c:v>
                </c:pt>
                <c:pt idx="8">
                  <c:v>513</c:v>
                </c:pt>
                <c:pt idx="9">
                  <c:v>486</c:v>
                </c:pt>
                <c:pt idx="10">
                  <c:v>450</c:v>
                </c:pt>
                <c:pt idx="11">
                  <c:v>531</c:v>
                </c:pt>
                <c:pt idx="12">
                  <c:v>632</c:v>
                </c:pt>
                <c:pt idx="13">
                  <c:v>597</c:v>
                </c:pt>
                <c:pt idx="14">
                  <c:v>723</c:v>
                </c:pt>
                <c:pt idx="15">
                  <c:v>871</c:v>
                </c:pt>
                <c:pt idx="16">
                  <c:v>789</c:v>
                </c:pt>
                <c:pt idx="17">
                  <c:v>777</c:v>
                </c:pt>
                <c:pt idx="18">
                  <c:v>539</c:v>
                </c:pt>
                <c:pt idx="19">
                  <c:v>427</c:v>
                </c:pt>
                <c:pt idx="20">
                  <c:v>348</c:v>
                </c:pt>
                <c:pt idx="21">
                  <c:v>276</c:v>
                </c:pt>
                <c:pt idx="22">
                  <c:v>236</c:v>
                </c:pt>
                <c:pt idx="23">
                  <c:v>143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FEE-48AF-B604-51A2766A90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Collisions by Day of Week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Collisions</c:v>
                </c:pt>
              </c:strCache>
            </c:strRef>
          </c:tx>
          <c:spPr>
            <a:solidFill>
              <a:srgbClr val="2EAA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BD-4B41-B009-ECA9C20FD28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1BD-4B41-B009-ECA9C20FD28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1BD-4B41-B009-ECA9C20FD28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1BD-4B41-B009-ECA9C20FD280}"/>
              </c:ext>
            </c:extLst>
          </c:dPt>
          <c:dPt>
            <c:idx val="4"/>
            <c:invertIfNegative val="0"/>
            <c:bubble3D val="0"/>
            <c:spPr>
              <a:solidFill>
                <a:srgbClr val="1A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BD-4B41-B009-ECA9C20FD280}"/>
              </c:ext>
            </c:extLst>
          </c:dPt>
          <c:dPt>
            <c:idx val="5"/>
            <c:invertIfNegative val="0"/>
            <c:bubble3D val="0"/>
            <c:spPr>
              <a:solidFill>
                <a:srgbClr val="F4A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BD-4B41-B009-ECA9C20FD280}"/>
              </c:ext>
            </c:extLst>
          </c:dPt>
          <c:dPt>
            <c:idx val="6"/>
            <c:invertIfNegative val="0"/>
            <c:bubble3D val="0"/>
            <c:spPr>
              <a:solidFill>
                <a:srgbClr val="F4A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BD-4B41-B009-ECA9C20FD2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1433</c:v>
                </c:pt>
                <c:pt idx="1">
                  <c:v>1399</c:v>
                </c:pt>
                <c:pt idx="2">
                  <c:v>1582</c:v>
                </c:pt>
                <c:pt idx="3">
                  <c:v>1519</c:v>
                </c:pt>
                <c:pt idx="4">
                  <c:v>1811</c:v>
                </c:pt>
                <c:pt idx="5">
                  <c:v>1293</c:v>
                </c:pt>
                <c:pt idx="6">
                  <c:v>1010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1BD-4B41-B009-ECA9C20FD2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Weather Condition vs Severity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Property Damage Only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Clear</c:v>
                </c:pt>
                <c:pt idx="1">
                  <c:v>Snow</c:v>
                </c:pt>
                <c:pt idx="2">
                  <c:v>Rain</c:v>
                </c:pt>
                <c:pt idx="3">
                  <c:v>Freezing Rain</c:v>
                </c:pt>
                <c:pt idx="4">
                  <c:v>Fog/Mist/Dust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6555</c:v>
                </c:pt>
                <c:pt idx="1">
                  <c:v>1028</c:v>
                </c:pt>
                <c:pt idx="2">
                  <c:v>550</c:v>
                </c:pt>
                <c:pt idx="3">
                  <c:v>74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E-4F85-9BF8-6D4F968460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Non-Fatal Injury</c:v>
                </c:pt>
              </c:strCache>
            </c:strRef>
          </c:tx>
          <c:spPr>
            <a:solidFill>
              <a:srgbClr val="2EAAB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Clear</c:v>
                </c:pt>
                <c:pt idx="1">
                  <c:v>Snow</c:v>
                </c:pt>
                <c:pt idx="2">
                  <c:v>Rain</c:v>
                </c:pt>
                <c:pt idx="3">
                  <c:v>Freezing Rain</c:v>
                </c:pt>
                <c:pt idx="4">
                  <c:v>Fog/Mist/Dust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1426</c:v>
                </c:pt>
                <c:pt idx="1">
                  <c:v>146</c:v>
                </c:pt>
                <c:pt idx="2">
                  <c:v>138</c:v>
                </c:pt>
                <c:pt idx="3">
                  <c:v>16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E-4F85-9BF8-6D4F968460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F4A7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Clear</c:v>
                </c:pt>
                <c:pt idx="1">
                  <c:v>Snow</c:v>
                </c:pt>
                <c:pt idx="2">
                  <c:v>Rain</c:v>
                </c:pt>
                <c:pt idx="3">
                  <c:v>Freezing Rain</c:v>
                </c:pt>
                <c:pt idx="4">
                  <c:v>Fog/Mist/Dust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E-4F85-9BF8-6D4F96846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Road Surface Conditions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57-4D1D-B9A9-D4E0199AF015}"/>
              </c:ext>
            </c:extLst>
          </c:dPt>
          <c:dPt>
            <c:idx val="1"/>
            <c:bubble3D val="0"/>
            <c:spPr>
              <a:solidFill>
                <a:srgbClr val="2EAA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57-4D1D-B9A9-D4E0199AF015}"/>
              </c:ext>
            </c:extLst>
          </c:dPt>
          <c:dPt>
            <c:idx val="2"/>
            <c:bubble3D val="0"/>
            <c:spPr>
              <a:solidFill>
                <a:srgbClr val="F4A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57-4D1D-B9A9-D4E0199AF015}"/>
              </c:ext>
            </c:extLst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57-4D1D-B9A9-D4E0199AF015}"/>
              </c:ext>
            </c:extLst>
          </c:dPt>
          <c:dPt>
            <c:idx val="4"/>
            <c:bubble3D val="0"/>
            <c:spPr>
              <a:solidFill>
                <a:srgbClr val="E538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57-4D1D-B9A9-D4E0199AF015}"/>
              </c:ext>
            </c:extLst>
          </c:dPt>
          <c:cat>
            <c:strRef>
              <c:f>Sheet1!$A$2:$A$6</c:f>
              <c:strCache>
                <c:ptCount val="5"/>
                <c:pt idx="0">
                  <c:v>Dry (65.4%)</c:v>
                </c:pt>
                <c:pt idx="1">
                  <c:v>Wet (17.8%)</c:v>
                </c:pt>
                <c:pt idx="2">
                  <c:v>Loose Snow (6.1%)</c:v>
                </c:pt>
                <c:pt idx="3">
                  <c:v>Slush (4.8%)</c:v>
                </c:pt>
                <c:pt idx="4">
                  <c:v>Ice (2.9%)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6569</c:v>
                </c:pt>
                <c:pt idx="1">
                  <c:v>1785</c:v>
                </c:pt>
                <c:pt idx="2">
                  <c:v>610</c:v>
                </c:pt>
                <c:pt idx="3">
                  <c:v>483</c:v>
                </c:pt>
                <c:pt idx="4">
                  <c:v>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57-4D1D-B9A9-D4E0199AF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Precision / Recall / F1 by Class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26.7</c:v>
                </c:pt>
                <c:pt idx="1">
                  <c:v>27.6</c:v>
                </c:pt>
                <c:pt idx="2">
                  <c:v>73.599999999999994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8B-4FB9-A479-85AB5458AD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F4A7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67.5</c:v>
                </c:pt>
                <c:pt idx="1">
                  <c:v>26.4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8B-4FB9-A479-85AB5458AD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EAA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38.299999999999997</c:v>
                </c:pt>
                <c:pt idx="1">
                  <c:v>27</c:v>
                </c:pt>
                <c:pt idx="2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8B-4FB9-A479-85AB5458AD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0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908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73152"/>
            <a:ext cx="2926080" cy="4997196"/>
          </a:xfrm>
          <a:prstGeom prst="rect">
            <a:avLst/>
          </a:prstGeom>
          <a:solidFill>
            <a:srgbClr val="132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1A7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0" y="822960"/>
            <a:ext cx="1463040" cy="1463040"/>
          </a:xfrm>
          <a:prstGeom prst="ellipse">
            <a:avLst/>
          </a:prstGeom>
          <a:solidFill>
            <a:srgbClr val="2EAAB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68680"/>
            <a:ext cx="1280160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2651760"/>
            <a:ext cx="2468880" cy="14630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92240" y="2999232"/>
            <a:ext cx="2468880" cy="146304"/>
          </a:xfrm>
          <a:prstGeom prst="rect">
            <a:avLst/>
          </a:prstGeom>
          <a:solidFill>
            <a:srgbClr val="1A7A8A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3346704"/>
            <a:ext cx="2468880" cy="146304"/>
          </a:xfrm>
          <a:prstGeom prst="rect">
            <a:avLst/>
          </a:prstGeom>
          <a:solidFill>
            <a:srgbClr val="1E8FA0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3694176"/>
            <a:ext cx="2468880" cy="146304"/>
          </a:xfrm>
          <a:prstGeom prst="rect">
            <a:avLst/>
          </a:prstGeom>
          <a:solidFill>
            <a:srgbClr val="1A7A8A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92240" y="4041648"/>
            <a:ext cx="2468880" cy="146304"/>
          </a:xfrm>
          <a:prstGeom prst="rect">
            <a:avLst/>
          </a:prstGeom>
          <a:solidFill>
            <a:srgbClr val="1E8FA0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Road Safety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5720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Predictive Analytics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57200" y="2331720"/>
            <a:ext cx="2926080" cy="36576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2514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Samatar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CST2213 – Business Intelligence Programming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Ottawa Transportation Collision Analysis  |  2020 Dataset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1463040" cy="685800"/>
          </a:xfrm>
          <a:prstGeom prst="rect">
            <a:avLst/>
          </a:prstGeom>
          <a:solidFill>
            <a:srgbClr val="1A7A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675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" y="4005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48840" y="3657600"/>
            <a:ext cx="1463040" cy="685800"/>
          </a:xfrm>
          <a:prstGeom prst="rect">
            <a:avLst/>
          </a:prstGeom>
          <a:solidFill>
            <a:srgbClr val="1A7A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148840" y="3675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148840" y="4005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0" y="3657600"/>
            <a:ext cx="1463040" cy="685800"/>
          </a:xfrm>
          <a:prstGeom prst="rect">
            <a:avLst/>
          </a:prstGeom>
          <a:solidFill>
            <a:srgbClr val="1A7A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840480" y="3675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840480" y="4005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874520" cy="34747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874520" cy="548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325880"/>
            <a:ext cx="914400" cy="914400"/>
          </a:xfrm>
          <a:prstGeom prst="ellipse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4475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59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Ottawa collision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10,047 cleaned records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raw data fields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1143000"/>
            <a:ext cx="1874520" cy="34747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68880" y="1143000"/>
            <a:ext cx="1874520" cy="54864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944368" y="1325880"/>
            <a:ext cx="914400" cy="914400"/>
          </a:xfrm>
          <a:prstGeom prst="ellipse">
            <a:avLst/>
          </a:prstGeom>
          <a:solidFill>
            <a:srgbClr val="F4A7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444752"/>
            <a:ext cx="676656" cy="676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359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42032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Streamlit interface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condition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analysis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0" y="1143000"/>
            <a:ext cx="1874520" cy="34747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0" y="1143000"/>
            <a:ext cx="1874520" cy="54864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47488" y="1325880"/>
            <a:ext cx="914400" cy="914400"/>
          </a:xfrm>
          <a:prstGeom prst="ellipse">
            <a:avLst/>
          </a:prstGeom>
          <a:solidFill>
            <a:srgbClr val="2EAAB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444752"/>
            <a:ext cx="676656" cy="6766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63440" y="2359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45152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comparison (LogReg/RF/GB)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Injury-risk prediction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weighting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675120" y="1143000"/>
            <a:ext cx="1874520" cy="34747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75120" y="1143000"/>
            <a:ext cx="187452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150608" y="1325880"/>
            <a:ext cx="914400" cy="914400"/>
          </a:xfrm>
          <a:prstGeom prst="ellipse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444752"/>
            <a:ext cx="676656" cy="6766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3591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Decision Support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48272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 cards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estimation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Ottawa Collision Dataset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54864" cy="50292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133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1133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10,047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719072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1719072"/>
            <a:ext cx="54864" cy="502920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Damage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17556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8,280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2340864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340864"/>
            <a:ext cx="54864" cy="502920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Non-Fatal Injury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23774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1,749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2962656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5760" y="2962656"/>
            <a:ext cx="54864" cy="502920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2999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017520" y="2999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3584448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3584448"/>
            <a:ext cx="54864" cy="502920"/>
          </a:xfrm>
          <a:prstGeom prst="rect">
            <a:avLst/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36210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017520" y="36210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65760" y="4206240"/>
            <a:ext cx="4023360" cy="50292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65760" y="4206240"/>
            <a:ext cx="54864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8640" y="4242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017520" y="424281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874520" cy="32004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874520" cy="347472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/ Local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Auto-Detection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9456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23160" y="1188720"/>
            <a:ext cx="1874520" cy="32004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3160" y="1188720"/>
            <a:ext cx="1874520" cy="34747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23160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14600" y="1664208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Decoding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945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26280" y="1188720"/>
            <a:ext cx="1874520" cy="32004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26280" y="1188720"/>
            <a:ext cx="1874520" cy="347472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26280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617720" y="1664208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Get-Dummies Encoding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Comparison (LogReg/RF/GB)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Weighting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9456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629400" y="1188720"/>
            <a:ext cx="1874520" cy="32004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629400" y="1188720"/>
            <a:ext cx="1874520" cy="34747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629400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720840" y="1664208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5-Tab UI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Filters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7A8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57200" y="46085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Trained model cached via Streamlit st.cache_resource — no retraining on tab switch. st.cache_data prevents redundant CSV/pipeline reloads.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1298448"/>
            <a:ext cx="1371600" cy="256032"/>
          </a:xfrm>
          <a:prstGeom prst="rect">
            <a:avLst/>
          </a:prstGeom>
          <a:solidFill>
            <a:srgbClr val="1A7A8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44368" y="1298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time column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54864" cy="749808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2167128"/>
            <a:ext cx="1371600" cy="256032"/>
          </a:xfrm>
          <a:prstGeom prst="rect">
            <a:avLst/>
          </a:prstGeom>
          <a:solidFill>
            <a:srgbClr val="2EAAB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44368" y="2167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112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54864" cy="749808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0" y="3035808"/>
            <a:ext cx="1371600" cy="256032"/>
          </a:xfrm>
          <a:prstGeom prst="rect">
            <a:avLst/>
          </a:prstGeom>
          <a:solidFill>
            <a:srgbClr val="2EAAB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44368" y="3035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date column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4864" cy="749808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6080" y="3904488"/>
            <a:ext cx="1371600" cy="256032"/>
          </a:xfrm>
          <a:prstGeom prst="rect">
            <a:avLst/>
          </a:prstGeom>
          <a:solidFill>
            <a:srgbClr val="F4A7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44368" y="39044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18872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1188720"/>
            <a:ext cx="54864" cy="749808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60920" y="1298448"/>
            <a:ext cx="1371600" cy="256032"/>
          </a:xfrm>
          <a:prstGeom prst="rect">
            <a:avLst/>
          </a:prstGeom>
          <a:solidFill>
            <a:srgbClr val="1E8FA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79208" y="1298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65192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Type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05740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057400"/>
            <a:ext cx="54864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60920" y="2167128"/>
            <a:ext cx="1371600" cy="256032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79208" y="21671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65192" y="2112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65192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292608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2926080"/>
            <a:ext cx="54864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60920" y="3035808"/>
            <a:ext cx="1371600" cy="256032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79208" y="30358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65192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Surface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65192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3794760"/>
            <a:ext cx="4114800" cy="74980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00600" y="3794760"/>
            <a:ext cx="54864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360920" y="3904488"/>
            <a:ext cx="1371600" cy="256032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79208" y="39044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6519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Condition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65192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field, decoded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Collision Patterns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1051560"/>
          <a:ext cx="34747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365760" y="3703320"/>
          <a:ext cx="85039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 Factors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577840" y="1005840"/>
          <a:ext cx="3291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160520"/>
            <a:ext cx="845820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65760" y="4160520"/>
            <a:ext cx="54864" cy="71323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7939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20624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Adverse weather (Snow + Rain + Freezing Rain + Drifting Snow + Fog) accounts for 20.2% of collisions by volume, but injury rates vary sharply by condition — Drifting Snow shows a 33.3% injury rate, nearly double the dataset average (17.6%), despite only 30 recorded collisions — informing targeted winter-weather advisories.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474720" cy="54864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5486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207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(LogReg / RF / GB)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3474720" cy="54864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54864" cy="548640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Metric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874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3474720" cy="54864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478024"/>
            <a:ext cx="54864" cy="5486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3474720" cy="54864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145536"/>
            <a:ext cx="54864" cy="548640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209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209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/ 30%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13048"/>
            <a:ext cx="3474720" cy="54864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54864" cy="5486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877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1143000"/>
            <a:ext cx="466344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1143000"/>
            <a:ext cx="4663440" cy="548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4340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Missing-Value Recoding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1527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zeros + “Not Applicable” (not statistical imputation)</a:t>
            </a:r>
            <a:endParaRPr lang="en-US" sz="9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92808"/>
            <a:ext cx="164592" cy="16459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206240" y="2011680"/>
            <a:ext cx="466344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206240" y="2011680"/>
            <a:ext cx="4663440" cy="54864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4340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Category Decoding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43400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numeric prefix codes → readable labels</a:t>
            </a:r>
            <a:endParaRPr lang="en-US" sz="95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61488"/>
            <a:ext cx="164592" cy="16459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206240" y="2880360"/>
            <a:ext cx="466344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206240" y="2880360"/>
            <a:ext cx="4663440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34340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One-Hot Encoding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4343400" y="3264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pandas.get_dummies — 8 features → 48 columns</a:t>
            </a:r>
            <a:endParaRPr lang="en-US" sz="95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30168"/>
            <a:ext cx="164592" cy="164592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4206240" y="3749040"/>
            <a:ext cx="466344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4206240" y="3749040"/>
            <a:ext cx="4663440" cy="54864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43434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Selection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343400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— 67.5% Injury Recall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27048" y="14173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Injury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85416" y="14173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Injury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54480" y="1783080"/>
            <a:ext cx="603504" cy="43891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1783080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12848" y="1783080"/>
            <a:ext cx="603504" cy="438912"/>
          </a:xfrm>
          <a:prstGeom prst="rect">
            <a:avLst/>
          </a:prstGeom>
          <a:solidFill>
            <a:srgbClr val="132033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12848" y="1783080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2768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54480" y="2295144"/>
            <a:ext cx="603504" cy="438912"/>
          </a:xfrm>
          <a:prstGeom prst="rect">
            <a:avLst/>
          </a:prstGeom>
          <a:solidFill>
            <a:srgbClr val="132033">
              <a:alpha val="4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54480" y="2295144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2295144"/>
            <a:ext cx="603504" cy="43891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12848" y="2295144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554480" y="1051560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800" dirty="0"/>
          </a:p>
        </p:txBody>
      </p:sp>
      <p:graphicFrame>
        <p:nvGraphicFramePr>
          <p:cNvPr id="47" name="Chart 0"/>
          <p:cNvGraphicFramePr/>
          <p:nvPr/>
        </p:nvGraphicFramePr>
        <p:xfrm>
          <a:off x="4572000" y="960120"/>
          <a:ext cx="42976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Shape 4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Streamlit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1572768" cy="34290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1572768" cy="548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914400" cy="914400"/>
          </a:xfrm>
          <a:prstGeom prst="ellipse">
            <a:avLst/>
          </a:prstGeom>
          <a:solidFill>
            <a:srgbClr val="1A7A8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4475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2359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3192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3192" y="2980944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head, missing values summary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57400" y="1143000"/>
            <a:ext cx="1572768" cy="34290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57400" y="1143000"/>
            <a:ext cx="1572768" cy="54864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86584" y="1325880"/>
            <a:ext cx="914400" cy="914400"/>
          </a:xfrm>
          <a:prstGeom prst="ellipse">
            <a:avLst/>
          </a:prstGeom>
          <a:solidFill>
            <a:srgbClr val="2EAAB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1444752"/>
            <a:ext cx="676656" cy="6766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2359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103120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103120" y="2980944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daily &amp; hourly collision charts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767328" y="1143000"/>
            <a:ext cx="1572768" cy="34290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767328" y="1143000"/>
            <a:ext cx="1572768" cy="54864"/>
          </a:xfrm>
          <a:prstGeom prst="rect">
            <a:avLst/>
          </a:prstGeom>
          <a:solidFill>
            <a:srgbClr val="1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096512" y="1325880"/>
            <a:ext cx="914400" cy="914400"/>
          </a:xfrm>
          <a:prstGeom prst="ellipse">
            <a:avLst/>
          </a:prstGeom>
          <a:solidFill>
            <a:srgbClr val="1E8FA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444752"/>
            <a:ext cx="676656" cy="6766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13048" y="2359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3813048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Analysis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813048" y="2980944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road &amp; light vs severity charts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77256" y="1143000"/>
            <a:ext cx="1572768" cy="34290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77256" y="1143000"/>
            <a:ext cx="1572768" cy="54864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806440" y="1325880"/>
            <a:ext cx="914400" cy="914400"/>
          </a:xfrm>
          <a:prstGeom prst="ellipse">
            <a:avLst/>
          </a:prstGeom>
          <a:solidFill>
            <a:srgbClr val="F4A70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1444752"/>
            <a:ext cx="676656" cy="6766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22976" y="2359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522976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522976" y="2980944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classification report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187184" y="1143000"/>
            <a:ext cx="1572768" cy="3429000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187184" y="1143000"/>
            <a:ext cx="1572768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516368" y="1325880"/>
            <a:ext cx="914400" cy="914400"/>
          </a:xfrm>
          <a:prstGeom prst="ellipse">
            <a:avLst/>
          </a:prstGeom>
          <a:solidFill>
            <a:srgbClr val="22C55E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444752"/>
            <a:ext cx="676656" cy="6766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32904" y="2359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7232904" y="254203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232904" y="2980944"/>
            <a:ext cx="1481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injury-risk predictor widget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47472" y="4617720"/>
            <a:ext cx="8458200" cy="347472"/>
          </a:xfrm>
          <a:prstGeom prst="rect">
            <a:avLst/>
          </a:prstGeom>
          <a:solidFill>
            <a:srgbClr val="1A7A8A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475488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Filters: Weather  |  Light Condition  |  Road Condition  →  Propagate reactively across all 5 tabs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609344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60520" cy="548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371600"/>
            <a:ext cx="685800" cy="685800"/>
          </a:xfrm>
          <a:prstGeom prst="ellipse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447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280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Enforcement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53312" y="1645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road safety patrols 14:00–18:00 daily, with added presence in Jan–Feb. These windows show the highest injury and volume concentrations in the dataset.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0" y="1170432"/>
            <a:ext cx="4160520" cy="1609344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170432"/>
            <a:ext cx="4160520" cy="54864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10912" y="1371600"/>
            <a:ext cx="685800" cy="685800"/>
          </a:xfrm>
          <a:prstGeom prst="ellipse">
            <a:avLst/>
          </a:prstGeom>
          <a:solidFill>
            <a:srgbClr val="F4A7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44475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33872" y="1280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Pre-Treatment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833872" y="1645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Pre-salt/sand high-traffic corridors before forecasted drifting snow or freezing rain. Drifting-snow conditions show a 33.3% injury rate — nearly double the dataset average.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999232"/>
            <a:ext cx="4160520" cy="1609344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99232"/>
            <a:ext cx="4160520" cy="54864"/>
          </a:xfrm>
          <a:prstGeom prst="rect">
            <a:avLst/>
          </a:prstGeom>
          <a:solidFill>
            <a:srgbClr val="2EAA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30352" y="3200400"/>
            <a:ext cx="685800" cy="685800"/>
          </a:xfrm>
          <a:prstGeom prst="ellipse">
            <a:avLst/>
          </a:prstGeom>
          <a:solidFill>
            <a:srgbClr val="2EAAB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27355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3108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Review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353312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geographic hotspot clusters identified via K-Means warrant signal retiming, lane reconfiguration and improved pedestrian crossings.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46320" y="2999232"/>
            <a:ext cx="4160520" cy="1609344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46320" y="2999232"/>
            <a:ext cx="4160520" cy="54864"/>
          </a:xfrm>
          <a:prstGeom prst="rect">
            <a:avLst/>
          </a:prstGeom>
          <a:solidFill>
            <a:srgbClr val="E53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010912" y="3200400"/>
            <a:ext cx="685800" cy="685800"/>
          </a:xfrm>
          <a:prstGeom prst="ellipse">
            <a:avLst/>
          </a:prstGeom>
          <a:solidFill>
            <a:srgbClr val="E538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3273552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33872" y="31089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Alerts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833872" y="34747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Risk Prediction tab for scenario planning. Input current conditions to estimate injury probability — supports emergency resource allocation.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Directions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76732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06240" cy="32918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53619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10,047 collision records cleaned &amp; feature-engineered — structural missing values recoded, not dropped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762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13969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8-feature engineering pipeline: temporal + environmental predictors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977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74320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Logistic Regression selected — 67.5% Injury recall vs. 19% unbalanced baseline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8328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346704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Streamlit dashboard with reactive sidebar filters deployed successfully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867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95020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collision windows &amp; adverse weather hotspots identified with BI insights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846320" y="1097280"/>
            <a:ext cx="3977640" cy="3767328"/>
          </a:xfrm>
          <a:prstGeom prst="rect">
            <a:avLst/>
          </a:prstGeom>
          <a:solidFill>
            <a:srgbClr val="1320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4846320" y="1097280"/>
            <a:ext cx="3977640" cy="329184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98348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956048" y="1572768"/>
            <a:ext cx="329184" cy="329184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956048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349240" y="153619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data integration for trend analysis &amp; improved Injury-class recall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956048" y="2194560"/>
            <a:ext cx="329184" cy="329184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495604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349240" y="21579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heat map layers (Folium/Kepler.gl) for sub-intersection clustering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956048" y="2816352"/>
            <a:ext cx="329184" cy="329184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4956048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349240" y="2779776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ETL pipeline — live data feed from Ottawa Open Data API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956048" y="3438144"/>
            <a:ext cx="329184" cy="329184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956048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349240" y="340156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values per prediction for non-technical stakeholders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4956048" y="4059936"/>
            <a:ext cx="329184" cy="329184"/>
          </a:xfrm>
          <a:prstGeom prst="rect">
            <a:avLst/>
          </a:prstGeom>
          <a:solidFill>
            <a:srgbClr val="1A7A8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4956048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349240" y="402336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Injury-count regression model for ambulance resource pre-positioning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132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0" y="1097280"/>
            <a:ext cx="2926080" cy="2926080"/>
          </a:xfrm>
          <a:prstGeom prst="ellipse">
            <a:avLst/>
          </a:prstGeom>
          <a:solidFill>
            <a:srgbClr val="1A7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5087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Road Safety Dashboard  •  Mohamed Samatar  •  CST2213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792</Words>
  <Application>Microsoft Office PowerPoint</Application>
  <PresentationFormat>On-screen Show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Road Safety Dashboard</dc:title>
  <dc:subject>PptxGenJS Presentation</dc:subject>
  <dc:creator>Mohamed Samatar</dc:creator>
  <cp:lastModifiedBy>Mohamed Jiggre Samatar</cp:lastModifiedBy>
  <cp:revision>1</cp:revision>
  <dcterms:created xsi:type="dcterms:W3CDTF">2026-04-13T23:48:50Z</dcterms:created>
  <dcterms:modified xsi:type="dcterms:W3CDTF">2026-08-11T02:52:02Z</dcterms:modified>
</cp:coreProperties>
</file>